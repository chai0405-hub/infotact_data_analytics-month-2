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SaaS/E-Commerce Cohort Retention &amp; CLTV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Customer retention, churn, lifetime value and business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Acquiring new customers is costly, but not every acquired user remains active.</a:t>
            </a:r>
          </a:p>
          <a:p>
            <a:pPr>
              <a:defRPr sz="2000"/>
            </a:pPr>
            <a:r>
              <a:t>The project measures customer retention month by month using cohort analysis.</a:t>
            </a:r>
          </a:p>
          <a:p>
            <a:pPr>
              <a:defRPr sz="2000"/>
            </a:pPr>
            <a:r>
              <a:t>CLTV analysis identifies high-value and low-value customers for better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Clean and prepare transaction-level customer data.</a:t>
            </a:r>
          </a:p>
          <a:p>
            <a:pPr>
              <a:defRPr sz="2000"/>
            </a:pPr>
            <a:r>
              <a:t>Generate acquisition cohorts and monthly retention rates.</a:t>
            </a:r>
          </a:p>
          <a:p>
            <a:pPr>
              <a:defRPr sz="2000"/>
            </a:pPr>
            <a:r>
              <a:t>Calculate historical CLTV and segment customers by value.</a:t>
            </a:r>
          </a:p>
          <a:p>
            <a:pPr>
              <a:defRPr sz="2000"/>
            </a:pPr>
            <a:r>
              <a:t>Build visual insights and a Streamlit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Dataset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Cleaned transactions: 3,682</a:t>
            </a:r>
          </a:p>
          <a:p>
            <a:pPr>
              <a:defRPr sz="2000"/>
            </a:pPr>
            <a:r>
              <a:t>Unique customers: 1,157</a:t>
            </a:r>
          </a:p>
          <a:p>
            <a:pPr>
              <a:defRPr sz="2000"/>
            </a:pPr>
            <a:r>
              <a:t>Unique orders: 3,682</a:t>
            </a:r>
          </a:p>
          <a:p>
            <a:pPr>
              <a:defRPr sz="2000"/>
            </a:pPr>
            <a:r>
              <a:t>Total revenue: Rs. 12,839,490.14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Data cleaning: remove invalid IDs, duplicate records, cancelled orders and invalid dates.</a:t>
            </a:r>
          </a:p>
          <a:p>
            <a:pPr>
              <a:defRPr sz="2000"/>
            </a:pPr>
            <a:r>
              <a:t>Feature engineering: revenue, transaction month, cohort month and cohort index.</a:t>
            </a:r>
          </a:p>
          <a:p>
            <a:pPr>
              <a:defRPr sz="2000"/>
            </a:pPr>
            <a:r>
              <a:t>Cohort analysis: customer-count matrix and retention-rate matrix.</a:t>
            </a:r>
          </a:p>
          <a:p>
            <a:pPr>
              <a:defRPr sz="2000"/>
            </a:pPr>
            <a:r>
              <a:t>CLTV analysis: total revenue, AOV, purchase frequency and segmentation.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Retention Heatmap</a:t>
            </a:r>
          </a:p>
        </p:txBody>
      </p:sp>
      <p:pic>
        <p:nvPicPr>
          <p:cNvPr id="3" name="Picture 2" descr="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102412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Average Retention Curve</a:t>
            </a:r>
          </a:p>
        </p:txBody>
      </p:sp>
      <p:pic>
        <p:nvPicPr>
          <p:cNvPr id="3" name="Picture 2" descr="reten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102412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CLTV Distribution</a:t>
            </a:r>
          </a:p>
        </p:txBody>
      </p:sp>
      <p:pic>
        <p:nvPicPr>
          <p:cNvPr id="3" name="Picture 2" descr="clt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102412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Segment Analysis</a:t>
            </a:r>
          </a:p>
        </p:txBody>
      </p:sp>
      <p:pic>
        <p:nvPicPr>
          <p:cNvPr id="3" name="Picture 2" descr="segm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102412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Repeat customer rate is 71.39%, showing scope for retention improvement.</a:t>
            </a:r>
          </a:p>
          <a:p>
            <a:pPr>
              <a:defRPr sz="2000"/>
            </a:pPr>
            <a:r>
              <a:t>High-value customers contribute strongly to revenue and should receive premium retention offers.</a:t>
            </a:r>
          </a:p>
          <a:p>
            <a:pPr>
              <a:defRPr sz="2000"/>
            </a:pPr>
            <a:r>
              <a:t>Early month drop-off should be reduced using re-engagement and second-purchase campaigns.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Launch automated campaigns 15-30 days after first purchase.</a:t>
            </a:r>
          </a:p>
          <a:p>
            <a:pPr>
              <a:defRPr sz="2000"/>
            </a:pPr>
            <a:r>
              <a:t>Prioritize acquisition channels with higher CLTV.</a:t>
            </a:r>
          </a:p>
          <a:p>
            <a:pPr>
              <a:defRPr sz="2000"/>
            </a:pPr>
            <a:r>
              <a:t>Create loyalty offers for high-value customers.</a:t>
            </a:r>
          </a:p>
          <a:p>
            <a:pPr>
              <a:defRPr sz="2000"/>
            </a:pPr>
            <a:r>
              <a:t>Monitor cohort retention monthly.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Cohort analysis identifies when customers churn.</a:t>
            </a:r>
          </a:p>
          <a:p>
            <a:pPr>
              <a:defRPr sz="2000"/>
            </a:pPr>
            <a:r>
              <a:t>CLTV analysis identifies which customers are most valuable.</a:t>
            </a:r>
          </a:p>
          <a:p>
            <a:pPr>
              <a:defRPr sz="2000"/>
            </a:pPr>
            <a:r>
              <a:t>Together, these insights support retention, revenue growth and profitable acquisition.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